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82296" cy="13716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783080"/>
            <a:ext cx="9692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S2 生成式设计（第二版）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rPr>
              <a:t>按临界转速规格直接生成转子设计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8BFDF"/>
                </a:solidFill>
                <a:latin typeface="Microsoft YaHei"/>
                <a:ea typeface="Microsoft YaHei"/>
                <a:cs typeface="Microsoft YaHei"/>
              </a:rPr>
              <a:t>Conception générative v2 : générer un rotor à partir d’une spécification de vitesses critiques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1206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Zhenhong Xie ｜ Jiuxing Chen　　Remerciements : Xuanqi Chen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2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为什么做这件事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Pourquoi : le besoin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用户给不出六个精确转速，只会给「范围」和「不低于」——点值条件不够用。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566160" cy="3931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66160" cy="566928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0"/>
            <a:ext cx="3063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用户手里只有性能要求
「一阶 5000 rpm ±5 %」
「不低于 3681」
不是六个精确数字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89204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Le client n’exprime qu’une plage, pas six valeurs exactes.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566160" cy="3931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66160" cy="566928"/>
          </a:xfrm>
          <a:prstGeom prst="round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检索已到头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743200"/>
            <a:ext cx="3063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目标带内的真实设计
每材料只剩 224 / 602 / 384 个
（Steel / Al / Ti）
纯查表已经交不出新方案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489204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La recherche en base est épuisée : 224 / 602 / 384 designs par matériau.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566160" cy="3931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566160" cy="566928"/>
          </a:xfrm>
          <a:prstGeom prst="roundRect">
            <a:avLst/>
          </a:prstGeom>
          <a:solidFill>
            <a:srgbClr val="2E7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优化只能给一个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743200"/>
            <a:ext cx="3063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差分进化、遗传算法
每次只回一个解
而且要反复调用昂贵仿真
给不出「一批可挑的设计」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89204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L’optimisation ne rend qu’une solution et rappelle la simulation en boucle.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53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结论：需要一种「给定规格 → 一次给出一批可挑设计」的模型，这就是生成式设计。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怎么做：四步链路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Comment : une chaîne en quatre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贵的仿真只花在最后一步。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395728" cy="2743200"/>
          </a:xfrm>
          <a:prstGeom prst="roundRect">
            <a:avLst/>
          </a:prstGeom>
          <a:solidFill>
            <a:srgbClr val="DDE7F5"/>
          </a:solidFill>
          <a:ln w="15875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46304" rIns="146304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1  规格解析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用户写的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「1=[3000,4500]」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解析成条件向量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Lecture de la spécification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35224" y="2926080"/>
            <a:ext cx="329184" cy="457200"/>
          </a:xfrm>
          <a:prstGeom prst="rightArrow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39" y="1828800"/>
            <a:ext cx="2395728" cy="2743200"/>
          </a:xfrm>
          <a:prstGeom prst="roundRect">
            <a:avLst/>
          </a:prstGeom>
          <a:solidFill>
            <a:srgbClr val="DDE7F5"/>
          </a:solidFill>
          <a:ln w="15875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46304" rIns="146304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2  条件 DDPM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一次生成 5000 台候选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约 10–35 秒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不调用仿真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Génération : 5 000 candidats, 10–35 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24144" y="2926080"/>
            <a:ext cx="329184" cy="457200"/>
          </a:xfrm>
          <a:prstGeom prst="rightArrow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59" y="1828800"/>
            <a:ext cx="2395728" cy="2743200"/>
          </a:xfrm>
          <a:prstGeom prst="roundRect">
            <a:avLst/>
          </a:prstGeom>
          <a:solidFill>
            <a:srgbClr val="DDE7F5"/>
          </a:solidFill>
          <a:ln w="15875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46304" rIns="146304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3  代理预选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MLP 代理排序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挑出前 200 台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秒级完成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Présélection par le modèle MLP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13063" y="2926080"/>
            <a:ext cx="329184" cy="457200"/>
          </a:xfrm>
          <a:prstGeom prst="rightArrow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0" y="1828800"/>
            <a:ext cx="2395728" cy="2743200"/>
          </a:xfrm>
          <a:prstGeom prst="roundRect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46304" rIns="146304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4  ROSS 发证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逐台真值复验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只交付通过的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约 0.6–1.2 秒/台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Vérification ROSS, puis livraison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为什么要用扩散模型（DDPM）而不是别的方法？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一个目标对应成千上万种可行几何，要的是「一批解」，而不是一个点。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扩散模型训练稳定、不会塌缩、能覆盖整个设计分布（GAN 会丢多样性，VAE 会把多解平均掉）。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换目标只要重新采样一次，不用重训；还能给出训练集里从未出现过的组合。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第二版新增了什么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Ce que la v2 ajoute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91440" cy="11155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任意阶组合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35331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cs1 / cs2 / cs3 的 7 种非空组合
只约束某一阶，或者几阶同时约束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41732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Combinaison libre des ordres 1, 2 et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91440" cy="11155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区间规格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8775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3500–3870 这样的范围
也可以写「不低于 3681」（单边）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65176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Spécification par intervalle, ou borne inférieure seule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91440" cy="11155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家族可选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2219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盘数与轴承数：不限制、给范围、还是固定
生成前限定，或生成后再筛选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8862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Nombre de disques / paliers : contrainte ou filtre a posteriori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91440" cy="11155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5663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三者可叠加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505663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区间 + 多阶联立 + 家族条件
任意组合都支持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12064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Les trois se combinent librement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效果怎么样（全部为 ROSS 真值口径）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Résultats, mesurés par 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每次给 5000 台候选，取代理前 200 台送 ROSS 复验，下面是「真值落在规格内」的台数。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109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194560"/>
                <a:gridCol w="2240280"/>
              </a:tblGrid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用户写的规格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每台交付的仿真时间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点值：一阶 3681 ±5 %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0.6 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区间：一阶 [3500, 3870]（窄带）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154 / 200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0.83 秒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区间：一阶 [2600, 5200]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194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0.65 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区间：一阶 [1800, 7500]（宽带）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 / 200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0.63 秒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单边：一阶不低于 3681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0.62 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联立：一阶 + 二阶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162 / 199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 秒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联立：一阶 + 二阶 + 三阶（2 万台候选）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131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109728" tIns="18288" bIns="18288"/>
                    <a:lstStyle/>
                    <a:p>
                      <a:pPr algn="l"/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家族：生成后筛选（几盘几轴承可选）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 / 199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 tIns="18288" bIns="18288"/>
                    <a:lstStyle/>
                    <a:p>
                      <a:pPr algn="ctr"/>
                      <a:r>
                        <a:rPr sz="1350" b="1" i="0">
                          <a:solidFill>
                            <a:srgbClr val="C55A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0.75 秒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结论：任意阶组合、区间、单边、家族筛选都能用，交付量 131–198 台 / 200。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为什么必须让 ROSS 最后「发证」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Pourquoi la vérification ROSS est indispensable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代理说「这 200 台全都在带内」，真值只有 84 %–96 % —— 代理偏乐观。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39496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代理的两副面孔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回归精度（能不能算准）：MAPE 3.7 %–6.7 %，R² 0.99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排序能力（能不能排对）：ρ = −0.03 … 0.93，随条件变化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代理自称在带率 100 %，ROSS 实测 84 %–96 %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· 所以「代理说好」≠「真的好」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965960"/>
            <a:ext cx="5394960" cy="3840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753B"/>
                </a:solidFill>
                <a:latin typeface="Microsoft YaHei"/>
                <a:ea typeface="Microsoft YaHei"/>
                <a:cs typeface="Microsoft YaHei"/>
              </a:rPr>
              <a:t>我们的做法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代理只负责把稀有设计「浓缩」进短名单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ROSS 逐台复验，只交付实测通过的设计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· 同时报告「每交付一台花多少秒仿真」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E753B"/>
                </a:solidFill>
                <a:latin typeface="Microsoft YaHei"/>
                <a:ea typeface="Microsoft YaHei"/>
                <a:cs typeface="Microsoft YaHei"/>
              </a:rPr>
              <a:t>· 规格越宽越容易：窄带 0.77 → 宽带 0.97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和已有工作比，我们站在哪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Position par rapport aux travaux existants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09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97680"/>
                <a:gridCol w="3611880"/>
              </a:tblGrid>
              <a:tr h="777240">
                <a:tc>
                  <a:txBody>
                    <a:bodyPr lIns="109728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已有工作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 lIns="109728"/>
                    <a:lstStyle/>
                    <a:p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生成对象是不是转子？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船体、翼型、冷板、点阵、超材料、阻尼器……没有转子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350" b="1" i="0">
                          <a:solidFill>
                            <a:srgbClr val="2E75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转子参数向量（含盘数、轴承数）</a:t>
                      </a:r>
                    </a:p>
                  </a:txBody>
                  <a:tcPr>
                    <a:solidFill>
                      <a:srgbClr val="ECF4EC"/>
                    </a:solidFill>
                  </a:tcPr>
                </a:tc>
              </a:tr>
              <a:tr h="777240">
                <a:tc>
                  <a:txBody>
                    <a:bodyPr lIns="109728"/>
                    <a:lstStyle/>
                    <a:p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性能条件怎么表达？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几乎全是点值；CcDPM 也只扩展到「多工况点值」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350" b="1" i="0">
                          <a:solidFill>
                            <a:srgbClr val="2E75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区间、单边、多阶联立</a:t>
                      </a:r>
                    </a:p>
                  </a:txBody>
                  <a:tcPr>
                    <a:solidFill>
                      <a:srgbClr val="ECF4EC"/>
                    </a:solidFill>
                  </a:tcPr>
                </a:tc>
              </a:tr>
              <a:tr h="777240">
                <a:tc>
                  <a:txBody>
                    <a:bodyPr lIns="109728"/>
                    <a:lstStyle/>
                    <a:p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怎么保证交付能用？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350" b="0" i="0">
                          <a:solidFill>
                            <a:srgbClr val="3F3F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多数只用代理；少数事后抽检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r>
                        <a:rPr sz="1350" b="1" i="0">
                          <a:solidFill>
                            <a:srgbClr val="2E75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ROSS 逐台复验 + 每台仿真成本</a:t>
                      </a:r>
                    </a:p>
                  </a:txBody>
                  <a:tcPr>
                    <a:solidFill>
                      <a:srgbClr val="ECF4E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006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三处空白：对象空白、条件空白、交付空白。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文献综述已完成（45 篇候选、精读 34 篇、纳入 35 篇），结论：这三条的交集没有被做过。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 bIns="18288"/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 下一步</a:t>
            </a:r>
          </a:p>
          <a:p>
            <a:r>
              <a:rPr sz="1150" b="0" i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Prochaines étapes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91440" cy="1115568"/>
          </a:xfrm>
          <a:prstGeom prst="rect">
            <a:avLst/>
          </a:prstGeom>
          <a:solidFill>
            <a:srgbClr val="2E7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把入口做成工具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35331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一条命令：输入规格 → 输出清单与几何 CSV
用户可按盘数 / 轴承数再筛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41732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Une commande : spécification → liste livrée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91440" cy="1115568"/>
          </a:xfrm>
          <a:prstGeom prst="rect">
            <a:avLst/>
          </a:prstGeom>
          <a:solidFill>
            <a:srgbClr val="2E7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补评估广度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8775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多材料、多目标点的重复实验
目前主要是 Steel 单一材料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65176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Élargir : plusieurs matériaux et cibles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91440" cy="1115568"/>
          </a:xfrm>
          <a:prstGeom prst="rect">
            <a:avLst/>
          </a:prstGeom>
          <a:solidFill>
            <a:srgbClr val="2E7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代理信任域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2219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把生成分布收回数据流形内
目标：真值误差压到 10 % 以内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88620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Domaine de confiance du modèle, APE réel &lt; 10 %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110996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91440" cy="1115568"/>
          </a:xfrm>
          <a:prstGeom prst="rect">
            <a:avLst/>
          </a:prstGeom>
          <a:solidFill>
            <a:srgbClr val="2E7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56632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S2 独立成文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505663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文献综述已完成
方法、实验、交付协议可支撑一篇论文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12064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Article dédié au module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